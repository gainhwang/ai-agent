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5d879fed6a476b" /><Relationship Type="http://schemas.openxmlformats.org/officeDocument/2006/relationships/extended-properties" Target="/docProps/app.xml" Id="R9a6cba70f2f840be" /><Relationship Type="http://schemas.openxmlformats.org/officeDocument/2006/relationships/officeDocument" Target="/ppt/presentation.xml" Id="R3042e0e8e84f43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8249396ef94a07"/>
  </p:sldMasterIdLst>
  <p:notesMasterIdLst>
    <p:notesMasterId xmlns:r="http://schemas.openxmlformats.org/officeDocument/2006/relationships" r:id="Rc7a11d7fb8944563"/>
  </p:notesMasterIdLst>
  <p:sldIdLst>
    <p:sldId xmlns:r="http://schemas.openxmlformats.org/officeDocument/2006/relationships" id="256" r:id="R4098f4e996a74197"/>
    <p:sldId xmlns:r="http://schemas.openxmlformats.org/officeDocument/2006/relationships" id="257" r:id="Rd32883a3af2742d3"/>
    <p:sldId xmlns:r="http://schemas.openxmlformats.org/officeDocument/2006/relationships" id="258" r:id="Rb7c247b625464ec3"/>
    <p:sldId xmlns:r="http://schemas.openxmlformats.org/officeDocument/2006/relationships" id="259" r:id="R358caec7784c4c22"/>
    <p:sldId xmlns:r="http://schemas.openxmlformats.org/officeDocument/2006/relationships" id="260" r:id="R02a09d6698be42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1953d07ab1432c" /><Relationship Type="http://schemas.openxmlformats.org/officeDocument/2006/relationships/slideMaster" Target="/ppt/slideMasters/slideMaster1.xml" Id="R858249396ef94a07" /><Relationship Type="http://schemas.openxmlformats.org/officeDocument/2006/relationships/notesMaster" Target="/ppt/notesMasters/notesMaster1.xml" Id="Rc7a11d7fb8944563" /><Relationship Type="http://schemas.openxmlformats.org/officeDocument/2006/relationships/presProps" Target="/ppt/presProps.xml" Id="Rd4042a9f78cd4e65" /><Relationship Type="http://schemas.openxmlformats.org/officeDocument/2006/relationships/tableStyles" Target="/ppt/tableStyles.xml" Id="Rd15fe619eef44a58" /><Relationship Type="http://schemas.openxmlformats.org/officeDocument/2006/relationships/slide" Target="/ppt/slides/slide1.xml" Id="R4098f4e996a74197" /><Relationship Type="http://schemas.openxmlformats.org/officeDocument/2006/relationships/slide" Target="/ppt/slides/slide2.xml" Id="Rd32883a3af2742d3" /><Relationship Type="http://schemas.openxmlformats.org/officeDocument/2006/relationships/slide" Target="/ppt/slides/slide3.xml" Id="Rb7c247b625464ec3" /><Relationship Type="http://schemas.openxmlformats.org/officeDocument/2006/relationships/slide" Target="/ppt/slides/slide4.xml" Id="R358caec7784c4c22" /><Relationship Type="http://schemas.openxmlformats.org/officeDocument/2006/relationships/slide" Target="/ppt/slides/slide5.xml" Id="R02a09d6698be42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c7be43d5ce44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12681c1cb410d" /><Relationship Type="http://schemas.openxmlformats.org/officeDocument/2006/relationships/notesMaster" Target="/ppt/notesMasters/notesMaster1.xml" Id="Rb4227af8f09146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aa1769ab3743f7" /><Relationship Type="http://schemas.openxmlformats.org/officeDocument/2006/relationships/notesMaster" Target="/ppt/notesMasters/notesMaster1.xml" Id="R0976e99d1db645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4c5d5df4914cf6" /><Relationship Type="http://schemas.openxmlformats.org/officeDocument/2006/relationships/notesMaster" Target="/ppt/notesMasters/notesMaster1.xml" Id="R73fa03e1946843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66c37e51c14b16" /><Relationship Type="http://schemas.openxmlformats.org/officeDocument/2006/relationships/notesMaster" Target="/ppt/notesMasters/notesMaster1.xml" Id="R053a74d629e840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318855a3d84888" /><Relationship Type="http://schemas.openxmlformats.org/officeDocument/2006/relationships/notesMaster" Target="/ppt/notesMasters/notesMaster1.xml" Id="R35670122d6644e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394f8a5c94c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9f35d912c43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766c846414c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09044678246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4604ef27f41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4755b3d5240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3F4312-315B-4F7E-8ED6-8C931AA2FE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513F76-8C45-4E84-A7FD-EA7BCADFDF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5A0353-5513-499C-A625-E6A0DE0143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31CBB8-F3FD-4AD0-BF6E-8C452DAB9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35EEA1-62B1-401F-81D7-CB46D1AE6C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CCC11D-8CBB-42A7-A61F-01F9CFB830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A0DD51-0A64-4728-BB46-4A85F5E3CD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B73547-EB01-456C-90F9-FCB9087C60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910D5A-B92F-455B-BC9F-542FD8F0B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74CA62-F18F-4ECE-97F9-0E96356506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059b356f754300" /><Relationship Type="http://schemas.openxmlformats.org/officeDocument/2006/relationships/slideLayout" Target="/ppt/slideLayouts/slideLayout1.xml" Id="R10c47b9a9c9a4f33" /><Relationship Type="http://schemas.openxmlformats.org/officeDocument/2006/relationships/slideLayout" Target="/ppt/slideLayouts/slideLayout2.xml" Id="R336aa7d131af4447" /><Relationship Type="http://schemas.openxmlformats.org/officeDocument/2006/relationships/slideLayout" Target="/ppt/slideLayouts/slideLayout3.xml" Id="R6ea7b59af4c5403b" /><Relationship Type="http://schemas.openxmlformats.org/officeDocument/2006/relationships/slideLayout" Target="/ppt/slideLayouts/slideLayout4.xml" Id="Ra29d91b65ec94d5d" /><Relationship Type="http://schemas.openxmlformats.org/officeDocument/2006/relationships/slideLayout" Target="/ppt/slideLayouts/slideLayout5.xml" Id="Rd5ab575946494fbb" /><Relationship Type="http://schemas.openxmlformats.org/officeDocument/2006/relationships/slideLayout" Target="/ppt/slideLayouts/slideLayout6.xml" Id="R3832cb3512f7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c47b9a9c9a4f33"/>
    <p:sldLayoutId xmlns:r="http://schemas.openxmlformats.org/officeDocument/2006/relationships" id="2147483650" r:id="R336aa7d131af4447"/>
    <p:sldLayoutId xmlns:r="http://schemas.openxmlformats.org/officeDocument/2006/relationships" id="2147483651" r:id="R6ea7b59af4c5403b"/>
    <p:sldLayoutId xmlns:r="http://schemas.openxmlformats.org/officeDocument/2006/relationships" id="2147483652" r:id="Ra29d91b65ec94d5d"/>
    <p:sldLayoutId xmlns:r="http://schemas.openxmlformats.org/officeDocument/2006/relationships" id="2147483653" r:id="Rd5ab575946494fbb"/>
    <p:sldLayoutId xmlns:r="http://schemas.openxmlformats.org/officeDocument/2006/relationships" id="2147483654" r:id="R3832cb3512f7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72a23afba44dc" /><Relationship Type="http://schemas.openxmlformats.org/officeDocument/2006/relationships/notesSlide" Target="/ppt/notesSlides/notesSlide1.xml" Id="Rbc4b1980b10747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5a4e203604b80" /><Relationship Type="http://schemas.openxmlformats.org/officeDocument/2006/relationships/notesSlide" Target="/ppt/notesSlides/notesSlide2.xml" Id="Rb1f2349d49b642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d3510a2ea4ba2" /><Relationship Type="http://schemas.openxmlformats.org/officeDocument/2006/relationships/notesSlide" Target="/ppt/notesSlides/notesSlide3.xml" Id="Rddbdf326f4af42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e1d5773254113" /><Relationship Type="http://schemas.openxmlformats.org/officeDocument/2006/relationships/notesSlide" Target="/ppt/notesSlides/notesSlide4.xml" Id="R87a8dc0e4baa40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752a91718145cf" /><Relationship Type="http://schemas.openxmlformats.org/officeDocument/2006/relationships/notesSlide" Target="/ppt/notesSlides/notesSlide5.xml" Id="Rf5cc7dfd1ba04b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FEEF9-6A48-4CE5-A10B-551FAF09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9906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실손의료보험</a:t>
            </a:r>
          </a:p>
          <a:p xmlns:a="http://schemas.openxmlformats.org/drawingml/2006/main">
            <a:pPr>
              <a:def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약관 비교 에이전트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EEAC0-6586-4DC1-B29B-208BD309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rPr>
              <a:t>PDF 두 개를 한 번에 비교하고, 판단 근거를 PDF 쪽수와 함께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8A97E-4DA2-4D92-9755-B02AFE9D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rPr>
              <a:t>AI 서비스 Mini-Project 결과 보고</a:t>
            </a:r>
          </a:p>
        </p:txBody>
      </p:sp>
    </p:spTree>
    <p:extLst>
      <p:ext uri="{BB962C8B-B14F-4D97-AF65-F5344CB8AC3E}">
        <p14:creationId xmlns:p14="http://schemas.microsoft.com/office/powerpoint/2010/main" val="132227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A6DE9-CD37-4A42-9E6D-B8AD9CDC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해결하려는 문제와 구현 기능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EC580-51E3-40DF-A0B5-060AC13A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rPr>
              <a:t>실손의료보험 약관 비교 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4397A-C796-43A2-A458-91F8F293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rPr>
              <a:t>기존 학습용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D7FD3-6655-4BC8-AF93-6597DCD5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4667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일반 대화형 에이전트와 웹 화면 중심</a:t>
            </a:r>
          </a:p>
          <a:p xmlns:a="http://schemas.openxmlformats.org/drawingml/2006/main">
            <a: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보험 약관의 항목별 근거 추적 기능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183DC-DB62-4285-B398-4076AE8F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rPr>
              <a:t>이번 프로젝트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28EEA-2BAC-4F49-B406-1B4C5F15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실손약관 PDF 두 개를 업로드</a:t>
            </a:r>
          </a:p>
          <a:p xmlns:a="http://schemas.openxmlformats.org/drawingml/2006/main">
            <a: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4개 항목을 한 표에서 비교</a:t>
            </a:r>
          </a:p>
          <a:p xmlns:a="http://schemas.openxmlformats.org/drawingml/2006/main">
            <a:pPr>
              <a:def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각 결과에 파일명·쪽수·원문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63263-5173-45B8-97A6-B483ABFB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rPr>
              <a:t>비교 항목: 도수치료 · 상해입원 자기부담금 · 보장 한도 · 임신·출산 면책</a:t>
            </a:r>
          </a:p>
        </p:txBody>
      </p:sp>
    </p:spTree>
    <p:extLst>
      <p:ext uri="{BB962C8B-B14F-4D97-AF65-F5344CB8AC3E}">
        <p14:creationId xmlns:p14="http://schemas.microsoft.com/office/powerpoint/2010/main" val="2289709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7BF6B-D7F0-4B35-968E-22918725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비교 처리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15B74-80A6-435D-B244-F5DA6AB6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rPr>
              <a:t>실손의료보험 약관 비교 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33577-D665-4360-9B17-DDCCE73A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rPr>
              <a:t>01  PDF 검사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E4E2D-D119-455C-9C3C-A64D34E9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383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형식·용량·쪽수·텍스트 추출 가능 여부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17DE8-40C5-4F3A-9F95-CC3AFC4B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rPr>
              <a:t>02  근거 찾기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2573E-123F-475E-9FF2-F6C88456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두 PDF에서 비교 항목별 관련 조항 탐색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F57F9-77E6-4654-8D13-F7ADC3A4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rPr>
              <a:t>03  비교·검증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D1753-CDB2-4B94-9B0B-B37E19B3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671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조항 범위를 맞춰 비교하고 인용·수치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F889A-FE6A-4E6E-8F5C-2D861246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rPr>
              <a:t>04  결과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EBFF4-96E1-4989-B305-535DC0BB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815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동일·차이·확인 필요와 원문 근거 제공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3DB29-049B-4175-805F-5815D7BC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rPr>
              <a:t>서로 다른 보장 체계나 근거 부족은 확인 필요로 보류</a:t>
            </a:r>
          </a:p>
        </p:txBody>
      </p:sp>
    </p:spTree>
    <p:extLst>
      <p:ext uri="{BB962C8B-B14F-4D97-AF65-F5344CB8AC3E}">
        <p14:creationId xmlns:p14="http://schemas.microsoft.com/office/powerpoint/2010/main" val="378311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BAAA2-6FF3-47FE-8306-F350735D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실제 PDF 비교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1D186-5563-4169-97D7-24DBB34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rPr>
              <a:t>실손의료보험 약관 비교 에이전트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96678-6C1C-4735-AD5E-A7496F92827A}"/>
              </a:ext>
            </a:extLst>
          </p:cNvPr>
          <p:cNvGraphicFramePr/>
          <p:nvPr/>
        </p:nvGraphicFramePr>
        <p:xfrm>
          <a:off xmlns:a="http://schemas.openxmlformats.org/drawingml/2006/main" x="742950" y="150495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4381500"/>
                <a:gridCol w="3905250"/>
              </a:tblGrid>
              <a:tr h="723900"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4"/>
                      </a:solidFill>
                      <a:prstDash val="solid"/>
                    </a:lnL>
                    <a:lnR w="9525">
                      <a:solidFill>
                        <a:srgbClr val="CED8E4"/>
                      </a:solidFill>
                      <a:prstDash val="solid"/>
                    </a:lnR>
                    <a:lnT w="9525">
                      <a:solidFill>
                        <a:srgbClr val="CED8E4"/>
                      </a:solidFill>
                      <a:prstDash val="solid"/>
                    </a:lnT>
                    <a:lnB w="9525">
                      <a:solidFill>
                        <a:srgbClr val="CED8E4"/>
                      </a:solidFill>
                      <a:prstDash val="solid"/>
                    </a:lnB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2020 일반형 ↔ 간편가입형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4"/>
                      </a:solidFill>
                      <a:prstDash val="solid"/>
                    </a:lnR>
                    <a:lnT w="9525">
                      <a:solidFill>
                        <a:srgbClr val="CED8E4"/>
                      </a:solidFill>
                      <a:prstDash val="solid"/>
                    </a:lnT>
                    <a:lnB w="9525">
                      <a:solidFill>
                        <a:srgbClr val="CED8E4"/>
                      </a:solidFill>
                      <a:prstDash val="solid"/>
                    </a:lnB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2022 ↔ 2023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4"/>
                      </a:solidFill>
                      <a:prstDash val="solid"/>
                    </a:lnR>
                    <a:lnT w="9525">
                      <a:solidFill>
                        <a:srgbClr val="CED8E4"/>
                      </a:solidFill>
                      <a:prstDash val="solid"/>
                    </a:lnT>
                    <a:lnB w="9525">
                      <a:solidFill>
                        <a:srgbClr val="CED8E4"/>
                      </a:solidFill>
                      <a:prstDash val="solid"/>
                    </a:lnB>
                    <a:solidFill>
                      <a:srgbClr val="DCEA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도수치료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4"/>
                      </a:solidFill>
                      <a:prstDash val="solid"/>
                    </a:lnL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차이: 특별약관 / 보통약관 제외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동일: 양쪽 42쪽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상해입원 자기부담금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4"/>
                      </a:solidFill>
                      <a:prstDash val="solid"/>
                    </a:lnL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차이: 양쪽 9쪽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동일: 양쪽 10~11·38쪽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상해입원 보장 한도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4"/>
                      </a:solidFill>
                      <a:prstDash val="solid"/>
                    </a:lnL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차이: 51쪽 / 49쪽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동일: 양쪽 17·50쪽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임신·출산 면책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4"/>
                      </a:solidFill>
                      <a:prstDash val="solid"/>
                    </a:lnL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동일: 58쪽 / 53쪽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pple SD Gothic Neo"/>
                          <a:ea typeface="Apple SD Gothic Neo"/>
                          <a:cs typeface="Apple SD Gothic Neo"/>
                        </a:rPr>
                        <a:t>동일: 양쪽 15·45쪽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4"/>
                      </a:solidFill>
                      <a:prstDash val="solid"/>
                    </a:lnR>
                    <a:lnB w="9525">
                      <a:solidFill>
                        <a:srgbClr val="CED8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8A33C-77A2-4B49-8C74-CB57BCD0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rPr>
              <a:t>근거는 PDF 뷰어 쪽수 기준. 실제 보장 여부는 특약·보험증권 확인 필요.</a:t>
            </a:r>
          </a:p>
        </p:txBody>
      </p:sp>
    </p:spTree>
    <p:extLst>
      <p:ext uri="{BB962C8B-B14F-4D97-AF65-F5344CB8AC3E}">
        <p14:creationId xmlns:p14="http://schemas.microsoft.com/office/powerpoint/2010/main" val="4218350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F3F92-73A7-4591-B95D-FF56C494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검증 결과와 적용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C8998-898A-4206-8C86-C6092F3D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rPr>
              <a:t>실손의료보험 약관 비교 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E3785-D5B7-4B4E-9368-6F21068E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48DF7-7108-4319-9A7C-5FE21025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905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자동 테스트 8개 통과</a:t>
            </a:r>
          </a:p>
          <a:p xmlns:a="http://schemas.openxmlformats.org/drawingml/2006/main">
            <a: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실제 PDF 두 쌍의 4개 항목을 원문과 대조</a:t>
            </a:r>
          </a:p>
          <a:p xmlns:a="http://schemas.openxmlformats.org/drawingml/2006/main">
            <a: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근거가 없는 경우 확인 필요로 표시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353F1-6A33-4F12-934A-120EB2FC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0972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69AA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F63D4-A74B-4C4D-9817-CB53306F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43125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스캔·암호화 PDF 미지원</a:t>
            </a:r>
          </a:p>
          <a:p xmlns:a="http://schemas.openxmlformats.org/drawingml/2006/main">
            <a: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낯선 조항 구조와 다른 보장 체계는 판단 보류</a:t>
            </a:r>
          </a:p>
          <a:p xmlns:a="http://schemas.openxmlformats.org/drawingml/2006/main">
            <a:pPr>
              <a:def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약관만으로 실제 가입금액은 확정 불가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86AA8-EAC6-4AC3-8749-350D777D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26173"/>
                </a:solidFill>
                <a:latin typeface="Apple SD Gothic Neo"/>
                <a:ea typeface="Apple SD Gothic Neo"/>
                <a:cs typeface="Apple SD Gothic Neo"/>
              </a:rPr>
              <a:t>시연: 2020 약관에서 차이 확인 → 2022·2023 약관에서 동일 확인 → 근거 없는 PDF에서 확인 필요 확인</a:t>
            </a:r>
          </a:p>
        </p:txBody>
      </p:sp>
    </p:spTree>
    <p:extLst>
      <p:ext uri="{BB962C8B-B14F-4D97-AF65-F5344CB8AC3E}">
        <p14:creationId xmlns:p14="http://schemas.microsoft.com/office/powerpoint/2010/main" val="1731057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2026-10-21T02:21:14.3620000Z</dcterms:created>
  <dcterms:modified xsi:type="dcterms:W3CDTF">2026-10-21T02:21:14.3620000Z</dcterms:modified>
</coreProperties>
</file>